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Aristotelica Pro Condensed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9211281" cy="10516520"/>
          </a:xfrm>
          <a:custGeom>
            <a:avLst/>
            <a:gdLst/>
            <a:ahLst/>
            <a:cxnLst/>
            <a:rect r="r" b="b" t="t" l="l"/>
            <a:pathLst>
              <a:path h="10516520" w="9211281">
                <a:moveTo>
                  <a:pt x="0" y="0"/>
                </a:moveTo>
                <a:lnTo>
                  <a:pt x="9211281" y="0"/>
                </a:lnTo>
                <a:lnTo>
                  <a:pt x="9211281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-141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85497">
            <a:off x="11193099" y="7428699"/>
            <a:ext cx="6038433" cy="4697660"/>
          </a:xfrm>
          <a:custGeom>
            <a:avLst/>
            <a:gdLst/>
            <a:ahLst/>
            <a:cxnLst/>
            <a:rect r="r" b="b" t="t" l="l"/>
            <a:pathLst>
              <a:path h="4697660" w="6038433">
                <a:moveTo>
                  <a:pt x="0" y="0"/>
                </a:moveTo>
                <a:lnTo>
                  <a:pt x="6038433" y="0"/>
                </a:lnTo>
                <a:lnTo>
                  <a:pt x="6038433" y="4697660"/>
                </a:lnTo>
                <a:lnTo>
                  <a:pt x="0" y="469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1516" r="-681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552745">
            <a:off x="14660890" y="-1165793"/>
            <a:ext cx="7269723" cy="4758364"/>
          </a:xfrm>
          <a:custGeom>
            <a:avLst/>
            <a:gdLst/>
            <a:ahLst/>
            <a:cxnLst/>
            <a:rect r="r" b="b" t="t" l="l"/>
            <a:pathLst>
              <a:path h="4758364" w="7269723">
                <a:moveTo>
                  <a:pt x="0" y="4758364"/>
                </a:moveTo>
                <a:lnTo>
                  <a:pt x="7269723" y="4758364"/>
                </a:lnTo>
                <a:lnTo>
                  <a:pt x="7269723" y="0"/>
                </a:lnTo>
                <a:lnTo>
                  <a:pt x="0" y="0"/>
                </a:lnTo>
                <a:lnTo>
                  <a:pt x="0" y="475836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93331" y="7473533"/>
            <a:ext cx="1741322" cy="2381295"/>
          </a:xfrm>
          <a:custGeom>
            <a:avLst/>
            <a:gdLst/>
            <a:ahLst/>
            <a:cxnLst/>
            <a:rect r="r" b="b" t="t" l="l"/>
            <a:pathLst>
              <a:path h="2381295" w="1741322">
                <a:moveTo>
                  <a:pt x="0" y="0"/>
                </a:moveTo>
                <a:lnTo>
                  <a:pt x="1741322" y="0"/>
                </a:lnTo>
                <a:lnTo>
                  <a:pt x="1741322" y="2381295"/>
                </a:lnTo>
                <a:lnTo>
                  <a:pt x="0" y="23812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9705498">
            <a:off x="-163478" y="5136229"/>
            <a:ext cx="6626549" cy="4337378"/>
          </a:xfrm>
          <a:custGeom>
            <a:avLst/>
            <a:gdLst/>
            <a:ahLst/>
            <a:cxnLst/>
            <a:rect r="r" b="b" t="t" l="l"/>
            <a:pathLst>
              <a:path h="4337378" w="6626549">
                <a:moveTo>
                  <a:pt x="0" y="4337378"/>
                </a:moveTo>
                <a:lnTo>
                  <a:pt x="6626550" y="4337378"/>
                </a:lnTo>
                <a:lnTo>
                  <a:pt x="6626550" y="0"/>
                </a:lnTo>
                <a:lnTo>
                  <a:pt x="0" y="0"/>
                </a:lnTo>
                <a:lnTo>
                  <a:pt x="0" y="43373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76137">
            <a:off x="374917" y="7220553"/>
            <a:ext cx="3117326" cy="2493861"/>
          </a:xfrm>
          <a:custGeom>
            <a:avLst/>
            <a:gdLst/>
            <a:ahLst/>
            <a:cxnLst/>
            <a:rect r="r" b="b" t="t" l="l"/>
            <a:pathLst>
              <a:path h="2493861" w="3117326">
                <a:moveTo>
                  <a:pt x="0" y="0"/>
                </a:moveTo>
                <a:lnTo>
                  <a:pt x="3117327" y="0"/>
                </a:lnTo>
                <a:lnTo>
                  <a:pt x="3117327" y="2493861"/>
                </a:lnTo>
                <a:lnTo>
                  <a:pt x="0" y="2493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6003" y="7723263"/>
            <a:ext cx="2781411" cy="2017787"/>
          </a:xfrm>
          <a:custGeom>
            <a:avLst/>
            <a:gdLst/>
            <a:ahLst/>
            <a:cxnLst/>
            <a:rect r="r" b="b" t="t" l="l"/>
            <a:pathLst>
              <a:path h="2017787" w="2781411">
                <a:moveTo>
                  <a:pt x="0" y="0"/>
                </a:moveTo>
                <a:lnTo>
                  <a:pt x="2781412" y="0"/>
                </a:lnTo>
                <a:lnTo>
                  <a:pt x="2781412" y="2017787"/>
                </a:lnTo>
                <a:lnTo>
                  <a:pt x="0" y="20177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834653" y="1028700"/>
            <a:ext cx="2928513" cy="2907215"/>
          </a:xfrm>
          <a:custGeom>
            <a:avLst/>
            <a:gdLst/>
            <a:ahLst/>
            <a:cxnLst/>
            <a:rect r="r" b="b" t="t" l="l"/>
            <a:pathLst>
              <a:path h="2907215" w="2928513">
                <a:moveTo>
                  <a:pt x="2928513" y="0"/>
                </a:moveTo>
                <a:lnTo>
                  <a:pt x="0" y="0"/>
                </a:lnTo>
                <a:lnTo>
                  <a:pt x="0" y="2907215"/>
                </a:lnTo>
                <a:lnTo>
                  <a:pt x="2928513" y="2907215"/>
                </a:lnTo>
                <a:lnTo>
                  <a:pt x="2928513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778131" y="4149884"/>
            <a:ext cx="7315200" cy="1288325"/>
          </a:xfrm>
          <a:custGeom>
            <a:avLst/>
            <a:gdLst/>
            <a:ahLst/>
            <a:cxnLst/>
            <a:rect r="r" b="b" t="t" l="l"/>
            <a:pathLst>
              <a:path h="1288325" w="7315200">
                <a:moveTo>
                  <a:pt x="0" y="0"/>
                </a:moveTo>
                <a:lnTo>
                  <a:pt x="7315200" y="0"/>
                </a:lnTo>
                <a:lnTo>
                  <a:pt x="7315200" y="1288326"/>
                </a:lnTo>
                <a:lnTo>
                  <a:pt x="0" y="12883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90129" y="1103495"/>
            <a:ext cx="3217025" cy="4114800"/>
          </a:xfrm>
          <a:custGeom>
            <a:avLst/>
            <a:gdLst/>
            <a:ahLst/>
            <a:cxnLst/>
            <a:rect r="r" b="b" t="t" l="l"/>
            <a:pathLst>
              <a:path h="4114800" w="3217025">
                <a:moveTo>
                  <a:pt x="0" y="0"/>
                </a:moveTo>
                <a:lnTo>
                  <a:pt x="3217025" y="0"/>
                </a:lnTo>
                <a:lnTo>
                  <a:pt x="3217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28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2845638">
            <a:off x="-2249236" y="-1736862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0" y="6647968"/>
                </a:moveTo>
                <a:lnTo>
                  <a:pt x="10156618" y="6647968"/>
                </a:lnTo>
                <a:lnTo>
                  <a:pt x="10156618" y="0"/>
                </a:lnTo>
                <a:lnTo>
                  <a:pt x="0" y="0"/>
                </a:lnTo>
                <a:lnTo>
                  <a:pt x="0" y="66479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9059" y="840690"/>
            <a:ext cx="3319235" cy="2148451"/>
          </a:xfrm>
          <a:custGeom>
            <a:avLst/>
            <a:gdLst/>
            <a:ahLst/>
            <a:cxnLst/>
            <a:rect r="r" b="b" t="t" l="l"/>
            <a:pathLst>
              <a:path h="2148451" w="3319235">
                <a:moveTo>
                  <a:pt x="0" y="0"/>
                </a:moveTo>
                <a:lnTo>
                  <a:pt x="3319235" y="0"/>
                </a:lnTo>
                <a:lnTo>
                  <a:pt x="3319235" y="2148450"/>
                </a:lnTo>
                <a:lnTo>
                  <a:pt x="0" y="21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569160" y="4464209"/>
            <a:ext cx="7429317" cy="92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  <a:spcBef>
                <a:spcPct val="0"/>
              </a:spcBef>
            </a:pPr>
            <a:r>
              <a:rPr lang="en-US" b="true" sz="5148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SQL HACKATHON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18294" y="1851948"/>
            <a:ext cx="10297554" cy="1886503"/>
            <a:chOff x="0" y="0"/>
            <a:chExt cx="1877694" cy="343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7694" cy="343992"/>
            </a:xfrm>
            <a:custGeom>
              <a:avLst/>
              <a:gdLst/>
              <a:ahLst/>
              <a:cxnLst/>
              <a:rect r="r" b="b" t="t" l="l"/>
              <a:pathLst>
                <a:path h="343992" w="1877694">
                  <a:moveTo>
                    <a:pt x="14684" y="0"/>
                  </a:moveTo>
                  <a:lnTo>
                    <a:pt x="1863011" y="0"/>
                  </a:lnTo>
                  <a:cubicBezTo>
                    <a:pt x="1866905" y="0"/>
                    <a:pt x="1870640" y="1547"/>
                    <a:pt x="1873394" y="4301"/>
                  </a:cubicBezTo>
                  <a:cubicBezTo>
                    <a:pt x="1876147" y="7055"/>
                    <a:pt x="1877694" y="10790"/>
                    <a:pt x="1877694" y="14684"/>
                  </a:cubicBezTo>
                  <a:lnTo>
                    <a:pt x="1877694" y="329308"/>
                  </a:lnTo>
                  <a:cubicBezTo>
                    <a:pt x="1877694" y="333203"/>
                    <a:pt x="1876147" y="336937"/>
                    <a:pt x="1873394" y="339691"/>
                  </a:cubicBezTo>
                  <a:cubicBezTo>
                    <a:pt x="1870640" y="342445"/>
                    <a:pt x="1866905" y="343992"/>
                    <a:pt x="1863011" y="343992"/>
                  </a:cubicBezTo>
                  <a:lnTo>
                    <a:pt x="14684" y="343992"/>
                  </a:lnTo>
                  <a:cubicBezTo>
                    <a:pt x="10790" y="343992"/>
                    <a:pt x="7055" y="342445"/>
                    <a:pt x="4301" y="339691"/>
                  </a:cubicBezTo>
                  <a:cubicBezTo>
                    <a:pt x="1547" y="336937"/>
                    <a:pt x="0" y="333203"/>
                    <a:pt x="0" y="329308"/>
                  </a:cubicBezTo>
                  <a:lnTo>
                    <a:pt x="0" y="14684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4" y="0"/>
                  </a:cubicBezTo>
                  <a:close/>
                </a:path>
              </a:pathLst>
            </a:custGeom>
            <a:solidFill>
              <a:srgbClr val="1B7895"/>
            </a:solidFill>
            <a:ln w="38100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77694" cy="382092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503724" y="2007980"/>
            <a:ext cx="9937022" cy="166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1"/>
              </a:lnSpc>
              <a:spcBef>
                <a:spcPct val="0"/>
              </a:spcBef>
            </a:pPr>
            <a:r>
              <a:rPr lang="en-US" b="true" sz="9665">
                <a:solidFill>
                  <a:srgbClr val="EEFBFF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DATA DETECTIVES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10197" y="78939"/>
            <a:ext cx="5604652" cy="136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2"/>
              </a:lnSpc>
              <a:spcBef>
                <a:spcPct val="0"/>
              </a:spcBef>
            </a:pPr>
            <a:r>
              <a:rPr lang="en-US" b="true" sz="7894">
                <a:solidFill>
                  <a:srgbClr val="64C2E0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 TEAM 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10958" y="5619185"/>
            <a:ext cx="8153034" cy="372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u="sng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Pres</a:t>
            </a:r>
            <a:r>
              <a:rPr lang="en-US" b="true" sz="3499" u="sng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ented By :</a:t>
            </a:r>
            <a:r>
              <a:rPr lang="en-US" b="true" sz="3499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Saranya Shanmugam(Team Lead)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Apurva Khangar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Jayasree Deekonda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1B7895"/>
                </a:solidFill>
                <a:latin typeface="Poppins Bold"/>
                <a:ea typeface="Poppins Bold"/>
                <a:cs typeface="Poppins Bold"/>
                <a:sym typeface="Poppins Bold"/>
              </a:rPr>
              <a:t>Poornima Srinivasan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B78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71004"/>
            <a:ext cx="16230600" cy="8217515"/>
            <a:chOff x="0" y="0"/>
            <a:chExt cx="1742126" cy="8820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2126" cy="882034"/>
            </a:xfrm>
            <a:custGeom>
              <a:avLst/>
              <a:gdLst/>
              <a:ahLst/>
              <a:cxnLst/>
              <a:rect r="r" b="b" t="t" l="l"/>
              <a:pathLst>
                <a:path h="882034" w="1742126">
                  <a:moveTo>
                    <a:pt x="9316" y="0"/>
                  </a:moveTo>
                  <a:lnTo>
                    <a:pt x="1732810" y="0"/>
                  </a:lnTo>
                  <a:cubicBezTo>
                    <a:pt x="1737955" y="0"/>
                    <a:pt x="1742126" y="4171"/>
                    <a:pt x="1742126" y="9316"/>
                  </a:cubicBezTo>
                  <a:lnTo>
                    <a:pt x="1742126" y="872718"/>
                  </a:lnTo>
                  <a:cubicBezTo>
                    <a:pt x="1742126" y="877863"/>
                    <a:pt x="1737955" y="882034"/>
                    <a:pt x="1732810" y="882034"/>
                  </a:cubicBezTo>
                  <a:lnTo>
                    <a:pt x="9316" y="882034"/>
                  </a:lnTo>
                  <a:cubicBezTo>
                    <a:pt x="4171" y="882034"/>
                    <a:pt x="0" y="877863"/>
                    <a:pt x="0" y="872718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E3EE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42126" cy="93918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real-world multi-sensor health dataset combining glucose monitoring, wearable signals, and nutrition data to understand patient health behaviour.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🩸 Dexcom (CGM Data): Continuous glucose levels with insulin and carb events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❤️ Heart Rate (HR): Cardiovascular activity tracking over time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⚡ IBI (Heart Variability): Measures stress and autonomic response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🌡 Temperature: Body temperature for anomaly detection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💧 EDA: Stress and emotional activity signals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🍽 Food Log: Meal intake with carbs, calories, and nutrition details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👤 Demographics: Patient-level profile information</a:t>
              </a: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10248194">
            <a:off x="351680" y="6658953"/>
            <a:ext cx="4544162" cy="2974361"/>
          </a:xfrm>
          <a:custGeom>
            <a:avLst/>
            <a:gdLst/>
            <a:ahLst/>
            <a:cxnLst/>
            <a:rect r="r" b="b" t="t" l="l"/>
            <a:pathLst>
              <a:path h="2974361" w="4544162">
                <a:moveTo>
                  <a:pt x="0" y="2974360"/>
                </a:moveTo>
                <a:lnTo>
                  <a:pt x="4544162" y="2974360"/>
                </a:lnTo>
                <a:lnTo>
                  <a:pt x="4544162" y="0"/>
                </a:lnTo>
                <a:lnTo>
                  <a:pt x="0" y="0"/>
                </a:lnTo>
                <a:lnTo>
                  <a:pt x="0" y="2974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100000">
            <a:off x="14362649" y="500998"/>
            <a:ext cx="3914397" cy="2562151"/>
          </a:xfrm>
          <a:custGeom>
            <a:avLst/>
            <a:gdLst/>
            <a:ahLst/>
            <a:cxnLst/>
            <a:rect r="r" b="b" t="t" l="l"/>
            <a:pathLst>
              <a:path h="2562151" w="3914397">
                <a:moveTo>
                  <a:pt x="0" y="0"/>
                </a:moveTo>
                <a:lnTo>
                  <a:pt x="3914397" y="0"/>
                </a:lnTo>
                <a:lnTo>
                  <a:pt x="3914397" y="2562151"/>
                </a:lnTo>
                <a:lnTo>
                  <a:pt x="0" y="2562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826439">
            <a:off x="791232" y="607890"/>
            <a:ext cx="1978500" cy="2330139"/>
          </a:xfrm>
          <a:custGeom>
            <a:avLst/>
            <a:gdLst/>
            <a:ahLst/>
            <a:cxnLst/>
            <a:rect r="r" b="b" t="t" l="l"/>
            <a:pathLst>
              <a:path h="2330139" w="1978500">
                <a:moveTo>
                  <a:pt x="0" y="0"/>
                </a:moveTo>
                <a:lnTo>
                  <a:pt x="1978500" y="0"/>
                </a:lnTo>
                <a:lnTo>
                  <a:pt x="1978500" y="2330139"/>
                </a:lnTo>
                <a:lnTo>
                  <a:pt x="0" y="23301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78099">
            <a:off x="15290456" y="512000"/>
            <a:ext cx="1616457" cy="2540147"/>
          </a:xfrm>
          <a:custGeom>
            <a:avLst/>
            <a:gdLst/>
            <a:ahLst/>
            <a:cxnLst/>
            <a:rect r="r" b="b" t="t" l="l"/>
            <a:pathLst>
              <a:path h="2540147" w="1616457">
                <a:moveTo>
                  <a:pt x="0" y="0"/>
                </a:moveTo>
                <a:lnTo>
                  <a:pt x="1616457" y="0"/>
                </a:lnTo>
                <a:lnTo>
                  <a:pt x="1616457" y="2540147"/>
                </a:lnTo>
                <a:lnTo>
                  <a:pt x="0" y="2540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83161" y="7341851"/>
            <a:ext cx="2476139" cy="2194478"/>
          </a:xfrm>
          <a:custGeom>
            <a:avLst/>
            <a:gdLst/>
            <a:ahLst/>
            <a:cxnLst/>
            <a:rect r="r" b="b" t="t" l="l"/>
            <a:pathLst>
              <a:path h="2194478" w="2476139">
                <a:moveTo>
                  <a:pt x="0" y="0"/>
                </a:moveTo>
                <a:lnTo>
                  <a:pt x="2476139" y="0"/>
                </a:lnTo>
                <a:lnTo>
                  <a:pt x="2476139" y="2194478"/>
                </a:lnTo>
                <a:lnTo>
                  <a:pt x="0" y="2194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8231" y="6685151"/>
            <a:ext cx="1572548" cy="2921965"/>
          </a:xfrm>
          <a:custGeom>
            <a:avLst/>
            <a:gdLst/>
            <a:ahLst/>
            <a:cxnLst/>
            <a:rect r="r" b="b" t="t" l="l"/>
            <a:pathLst>
              <a:path h="2921965" w="1572548">
                <a:moveTo>
                  <a:pt x="0" y="0"/>
                </a:moveTo>
                <a:lnTo>
                  <a:pt x="1572548" y="0"/>
                </a:lnTo>
                <a:lnTo>
                  <a:pt x="1572548" y="2921965"/>
                </a:lnTo>
                <a:lnTo>
                  <a:pt x="0" y="29219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2523333" y="7082003"/>
            <a:ext cx="814894" cy="3529068"/>
          </a:xfrm>
          <a:custGeom>
            <a:avLst/>
            <a:gdLst/>
            <a:ahLst/>
            <a:cxnLst/>
            <a:rect r="r" b="b" t="t" l="l"/>
            <a:pathLst>
              <a:path h="3529068" w="814894">
                <a:moveTo>
                  <a:pt x="0" y="0"/>
                </a:moveTo>
                <a:lnTo>
                  <a:pt x="814894" y="0"/>
                </a:lnTo>
                <a:lnTo>
                  <a:pt x="814894" y="3529067"/>
                </a:lnTo>
                <a:lnTo>
                  <a:pt x="0" y="35290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695314" y="1552134"/>
            <a:ext cx="8771088" cy="1687399"/>
            <a:chOff x="0" y="0"/>
            <a:chExt cx="1599353" cy="3076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9353" cy="307687"/>
            </a:xfrm>
            <a:custGeom>
              <a:avLst/>
              <a:gdLst/>
              <a:ahLst/>
              <a:cxnLst/>
              <a:rect r="r" b="b" t="t" l="l"/>
              <a:pathLst>
                <a:path h="307687" w="1599353">
                  <a:moveTo>
                    <a:pt x="17240" y="0"/>
                  </a:moveTo>
                  <a:lnTo>
                    <a:pt x="1582113" y="0"/>
                  </a:lnTo>
                  <a:cubicBezTo>
                    <a:pt x="1591635" y="0"/>
                    <a:pt x="1599353" y="7718"/>
                    <a:pt x="1599353" y="17240"/>
                  </a:cubicBezTo>
                  <a:lnTo>
                    <a:pt x="1599353" y="290447"/>
                  </a:lnTo>
                  <a:cubicBezTo>
                    <a:pt x="1599353" y="299968"/>
                    <a:pt x="1591635" y="307687"/>
                    <a:pt x="1582113" y="307687"/>
                  </a:cubicBezTo>
                  <a:lnTo>
                    <a:pt x="17240" y="307687"/>
                  </a:lnTo>
                  <a:cubicBezTo>
                    <a:pt x="7718" y="307687"/>
                    <a:pt x="0" y="299968"/>
                    <a:pt x="0" y="290447"/>
                  </a:cubicBezTo>
                  <a:lnTo>
                    <a:pt x="0" y="17240"/>
                  </a:lnTo>
                  <a:cubicBezTo>
                    <a:pt x="0" y="7718"/>
                    <a:pt x="7718" y="0"/>
                    <a:pt x="17240" y="0"/>
                  </a:cubicBezTo>
                  <a:close/>
                </a:path>
              </a:pathLst>
            </a:custGeom>
            <a:solidFill>
              <a:srgbClr val="64C2E0"/>
            </a:solidFill>
            <a:ln w="38100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99353" cy="345787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839946" y="1646533"/>
            <a:ext cx="8880032" cy="167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EEFBFF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MUL</a:t>
            </a:r>
            <a:r>
              <a:rPr lang="en-US" b="true" sz="4800">
                <a:solidFill>
                  <a:srgbClr val="EEFBFF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TI-MODAL HEALTHCARE DATASET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71004"/>
            <a:ext cx="16230600" cy="8217515"/>
            <a:chOff x="0" y="0"/>
            <a:chExt cx="1742126" cy="8820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2126" cy="882034"/>
            </a:xfrm>
            <a:custGeom>
              <a:avLst/>
              <a:gdLst/>
              <a:ahLst/>
              <a:cxnLst/>
              <a:rect r="r" b="b" t="t" l="l"/>
              <a:pathLst>
                <a:path h="882034" w="1742126">
                  <a:moveTo>
                    <a:pt x="9316" y="0"/>
                  </a:moveTo>
                  <a:lnTo>
                    <a:pt x="1732810" y="0"/>
                  </a:lnTo>
                  <a:cubicBezTo>
                    <a:pt x="1737955" y="0"/>
                    <a:pt x="1742126" y="4171"/>
                    <a:pt x="1742126" y="9316"/>
                  </a:cubicBezTo>
                  <a:lnTo>
                    <a:pt x="1742126" y="872718"/>
                  </a:lnTo>
                  <a:cubicBezTo>
                    <a:pt x="1742126" y="877863"/>
                    <a:pt x="1737955" y="882034"/>
                    <a:pt x="1732810" y="882034"/>
                  </a:cubicBezTo>
                  <a:lnTo>
                    <a:pt x="9316" y="882034"/>
                  </a:lnTo>
                  <a:cubicBezTo>
                    <a:pt x="4171" y="882034"/>
                    <a:pt x="0" y="877863"/>
                    <a:pt x="0" y="872718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E3EE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2126" cy="92013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22072" y="1552134"/>
            <a:ext cx="10043856" cy="1687399"/>
            <a:chOff x="0" y="0"/>
            <a:chExt cx="1831434" cy="307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1434" cy="307687"/>
            </a:xfrm>
            <a:custGeom>
              <a:avLst/>
              <a:gdLst/>
              <a:ahLst/>
              <a:cxnLst/>
              <a:rect r="r" b="b" t="t" l="l"/>
              <a:pathLst>
                <a:path h="307687" w="1831434">
                  <a:moveTo>
                    <a:pt x="15055" y="0"/>
                  </a:moveTo>
                  <a:lnTo>
                    <a:pt x="1816379" y="0"/>
                  </a:lnTo>
                  <a:cubicBezTo>
                    <a:pt x="1820372" y="0"/>
                    <a:pt x="1824201" y="1586"/>
                    <a:pt x="1827025" y="4409"/>
                  </a:cubicBezTo>
                  <a:cubicBezTo>
                    <a:pt x="1829848" y="7233"/>
                    <a:pt x="1831434" y="11062"/>
                    <a:pt x="1831434" y="15055"/>
                  </a:cubicBezTo>
                  <a:lnTo>
                    <a:pt x="1831434" y="292632"/>
                  </a:lnTo>
                  <a:cubicBezTo>
                    <a:pt x="1831434" y="296625"/>
                    <a:pt x="1829848" y="300454"/>
                    <a:pt x="1827025" y="303277"/>
                  </a:cubicBezTo>
                  <a:cubicBezTo>
                    <a:pt x="1824201" y="306101"/>
                    <a:pt x="1820372" y="307687"/>
                    <a:pt x="1816379" y="307687"/>
                  </a:cubicBezTo>
                  <a:lnTo>
                    <a:pt x="15055" y="307687"/>
                  </a:lnTo>
                  <a:cubicBezTo>
                    <a:pt x="11062" y="307687"/>
                    <a:pt x="7233" y="306101"/>
                    <a:pt x="4409" y="303277"/>
                  </a:cubicBezTo>
                  <a:cubicBezTo>
                    <a:pt x="1586" y="300454"/>
                    <a:pt x="0" y="296625"/>
                    <a:pt x="0" y="292632"/>
                  </a:cubicBezTo>
                  <a:lnTo>
                    <a:pt x="0" y="15055"/>
                  </a:lnTo>
                  <a:cubicBezTo>
                    <a:pt x="0" y="11062"/>
                    <a:pt x="1586" y="7233"/>
                    <a:pt x="4409" y="4409"/>
                  </a:cubicBezTo>
                  <a:cubicBezTo>
                    <a:pt x="7233" y="1586"/>
                    <a:pt x="11062" y="0"/>
                    <a:pt x="15055" y="0"/>
                  </a:cubicBezTo>
                  <a:close/>
                </a:path>
              </a:pathLst>
            </a:custGeom>
            <a:solidFill>
              <a:srgbClr val="64C2E0"/>
            </a:solidFill>
            <a:ln w="38100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31434" cy="345787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97927" y="1579858"/>
            <a:ext cx="9892145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EEFBFF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DATA CLEANING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8477205">
            <a:off x="-2472690" y="-2650938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10156617" y="0"/>
                </a:moveTo>
                <a:lnTo>
                  <a:pt x="0" y="0"/>
                </a:lnTo>
                <a:lnTo>
                  <a:pt x="0" y="6647968"/>
                </a:lnTo>
                <a:lnTo>
                  <a:pt x="10156617" y="6647968"/>
                </a:lnTo>
                <a:lnTo>
                  <a:pt x="101566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10670438">
            <a:off x="11188007" y="6486540"/>
            <a:ext cx="9381153" cy="6140391"/>
          </a:xfrm>
          <a:custGeom>
            <a:avLst/>
            <a:gdLst/>
            <a:ahLst/>
            <a:cxnLst/>
            <a:rect r="r" b="b" t="t" l="l"/>
            <a:pathLst>
              <a:path h="6140391" w="9381153">
                <a:moveTo>
                  <a:pt x="9381153" y="6140392"/>
                </a:moveTo>
                <a:lnTo>
                  <a:pt x="0" y="6140392"/>
                </a:lnTo>
                <a:lnTo>
                  <a:pt x="0" y="0"/>
                </a:lnTo>
                <a:lnTo>
                  <a:pt x="9381153" y="0"/>
                </a:lnTo>
                <a:lnTo>
                  <a:pt x="9381153" y="61403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00051">
            <a:off x="13861097" y="8635725"/>
            <a:ext cx="3117326" cy="2493861"/>
          </a:xfrm>
          <a:custGeom>
            <a:avLst/>
            <a:gdLst/>
            <a:ahLst/>
            <a:cxnLst/>
            <a:rect r="r" b="b" t="t" l="l"/>
            <a:pathLst>
              <a:path h="2493861" w="3117326">
                <a:moveTo>
                  <a:pt x="0" y="0"/>
                </a:moveTo>
                <a:lnTo>
                  <a:pt x="3117326" y="0"/>
                </a:lnTo>
                <a:lnTo>
                  <a:pt x="3117326" y="2493861"/>
                </a:lnTo>
                <a:lnTo>
                  <a:pt x="0" y="24938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617911" y="-875267"/>
            <a:ext cx="5654642" cy="4114800"/>
          </a:xfrm>
          <a:custGeom>
            <a:avLst/>
            <a:gdLst/>
            <a:ahLst/>
            <a:cxnLst/>
            <a:rect r="r" b="b" t="t" l="l"/>
            <a:pathLst>
              <a:path h="4114800" w="5654642">
                <a:moveTo>
                  <a:pt x="0" y="0"/>
                </a:moveTo>
                <a:lnTo>
                  <a:pt x="5654642" y="0"/>
                </a:lnTo>
                <a:lnTo>
                  <a:pt x="5654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42182" y="4864820"/>
            <a:ext cx="3357273" cy="395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scheme inspection’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null value detection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duplicate record identification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Mixed timestamp format identification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9336" y="3769667"/>
            <a:ext cx="3357273" cy="843700"/>
            <a:chOff x="0" y="0"/>
            <a:chExt cx="612178" cy="1538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178" cy="153843"/>
            </a:xfrm>
            <a:custGeom>
              <a:avLst/>
              <a:gdLst/>
              <a:ahLst/>
              <a:cxnLst/>
              <a:rect r="r" b="b" t="t" l="l"/>
              <a:pathLst>
                <a:path h="153843" w="612178">
                  <a:moveTo>
                    <a:pt x="0" y="0"/>
                  </a:moveTo>
                  <a:lnTo>
                    <a:pt x="612178" y="0"/>
                  </a:lnTo>
                  <a:lnTo>
                    <a:pt x="612178" y="153843"/>
                  </a:lnTo>
                  <a:lnTo>
                    <a:pt x="0" y="153843"/>
                  </a:lnTo>
                  <a:close/>
                </a:path>
              </a:pathLst>
            </a:custGeom>
            <a:solidFill>
              <a:srgbClr val="ADDDED"/>
            </a:solidFill>
            <a:ln w="38100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12178" cy="191943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39336" y="3929262"/>
            <a:ext cx="3164926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5A76"/>
                </a:solidFill>
                <a:latin typeface="Poppins Bold"/>
                <a:ea typeface="Poppins Bold"/>
                <a:cs typeface="Poppins Bold"/>
                <a:sym typeface="Poppins Bold"/>
              </a:rPr>
              <a:t>Raw and Staging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23354" y="5083895"/>
            <a:ext cx="3357273" cy="351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duplicates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missing/null values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type consistency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column name standardization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23354" y="3769667"/>
            <a:ext cx="3357273" cy="843700"/>
            <a:chOff x="0" y="0"/>
            <a:chExt cx="612178" cy="1538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2178" cy="153843"/>
            </a:xfrm>
            <a:custGeom>
              <a:avLst/>
              <a:gdLst/>
              <a:ahLst/>
              <a:cxnLst/>
              <a:rect r="r" b="b" t="t" l="l"/>
              <a:pathLst>
                <a:path h="153843" w="612178">
                  <a:moveTo>
                    <a:pt x="0" y="0"/>
                  </a:moveTo>
                  <a:lnTo>
                    <a:pt x="612178" y="0"/>
                  </a:lnTo>
                  <a:lnTo>
                    <a:pt x="612178" y="153843"/>
                  </a:lnTo>
                  <a:lnTo>
                    <a:pt x="0" y="153843"/>
                  </a:lnTo>
                  <a:close/>
                </a:path>
              </a:pathLst>
            </a:custGeom>
            <a:solidFill>
              <a:srgbClr val="ADDDED"/>
            </a:solidFill>
            <a:ln w="38100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12178" cy="191943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423354" y="3708959"/>
            <a:ext cx="335727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5A76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operations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7373" y="4734010"/>
            <a:ext cx="3357273" cy="351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standardized timestamps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filtered invalid physiological ranges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 filters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clean data layer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indexing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07373" y="3769667"/>
            <a:ext cx="3357273" cy="843700"/>
            <a:chOff x="0" y="0"/>
            <a:chExt cx="612178" cy="1538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2178" cy="153843"/>
            </a:xfrm>
            <a:custGeom>
              <a:avLst/>
              <a:gdLst/>
              <a:ahLst/>
              <a:cxnLst/>
              <a:rect r="r" b="b" t="t" l="l"/>
              <a:pathLst>
                <a:path h="153843" w="612178">
                  <a:moveTo>
                    <a:pt x="0" y="0"/>
                  </a:moveTo>
                  <a:lnTo>
                    <a:pt x="612178" y="0"/>
                  </a:lnTo>
                  <a:lnTo>
                    <a:pt x="612178" y="153843"/>
                  </a:lnTo>
                  <a:lnTo>
                    <a:pt x="0" y="153843"/>
                  </a:lnTo>
                  <a:close/>
                </a:path>
              </a:pathLst>
            </a:custGeom>
            <a:solidFill>
              <a:srgbClr val="ADDDED"/>
            </a:solidFill>
            <a:ln w="38100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12178" cy="191943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507373" y="3698332"/>
            <a:ext cx="3407060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5A76"/>
                </a:solidFill>
                <a:latin typeface="Poppins Bold"/>
                <a:ea typeface="Poppins Bold"/>
                <a:cs typeface="Poppins Bold"/>
                <a:sym typeface="Poppins Bold"/>
              </a:rPr>
              <a:t>Data Transformation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91391" y="4734010"/>
            <a:ext cx="3357273" cy="307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temperature anomaly detection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EDA spike detection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clinical event flags.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591391" y="3769667"/>
            <a:ext cx="3357273" cy="843700"/>
            <a:chOff x="0" y="0"/>
            <a:chExt cx="612178" cy="1538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2178" cy="153843"/>
            </a:xfrm>
            <a:custGeom>
              <a:avLst/>
              <a:gdLst/>
              <a:ahLst/>
              <a:cxnLst/>
              <a:rect r="r" b="b" t="t" l="l"/>
              <a:pathLst>
                <a:path h="153843" w="612178">
                  <a:moveTo>
                    <a:pt x="0" y="0"/>
                  </a:moveTo>
                  <a:lnTo>
                    <a:pt x="612178" y="0"/>
                  </a:lnTo>
                  <a:lnTo>
                    <a:pt x="612178" y="153843"/>
                  </a:lnTo>
                  <a:lnTo>
                    <a:pt x="0" y="153843"/>
                  </a:lnTo>
                  <a:close/>
                </a:path>
              </a:pathLst>
            </a:custGeom>
            <a:solidFill>
              <a:srgbClr val="ADDDED"/>
            </a:solidFill>
            <a:ln w="38100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12178" cy="191943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591391" y="3698332"/>
            <a:ext cx="3157450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5A76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100000">
            <a:off x="14012960" y="917070"/>
            <a:ext cx="4381720" cy="2868035"/>
          </a:xfrm>
          <a:custGeom>
            <a:avLst/>
            <a:gdLst/>
            <a:ahLst/>
            <a:cxnLst/>
            <a:rect r="r" b="b" t="t" l="l"/>
            <a:pathLst>
              <a:path h="2868035" w="4381720">
                <a:moveTo>
                  <a:pt x="0" y="0"/>
                </a:moveTo>
                <a:lnTo>
                  <a:pt x="4381720" y="0"/>
                </a:lnTo>
                <a:lnTo>
                  <a:pt x="4381720" y="2868035"/>
                </a:lnTo>
                <a:lnTo>
                  <a:pt x="0" y="2868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8477205">
            <a:off x="-2472690" y="-2650938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10156617" y="0"/>
                </a:moveTo>
                <a:lnTo>
                  <a:pt x="0" y="0"/>
                </a:lnTo>
                <a:lnTo>
                  <a:pt x="0" y="6647968"/>
                </a:lnTo>
                <a:lnTo>
                  <a:pt x="10156617" y="6647968"/>
                </a:lnTo>
                <a:lnTo>
                  <a:pt x="101566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281262" y="1028700"/>
            <a:ext cx="11535243" cy="1464793"/>
            <a:chOff x="0" y="0"/>
            <a:chExt cx="2312814" cy="293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2814" cy="293691"/>
            </a:xfrm>
            <a:custGeom>
              <a:avLst/>
              <a:gdLst/>
              <a:ahLst/>
              <a:cxnLst/>
              <a:rect r="r" b="b" t="t" l="l"/>
              <a:pathLst>
                <a:path h="293691" w="2312814">
                  <a:moveTo>
                    <a:pt x="13108" y="0"/>
                  </a:moveTo>
                  <a:lnTo>
                    <a:pt x="2299705" y="0"/>
                  </a:lnTo>
                  <a:cubicBezTo>
                    <a:pt x="2303182" y="0"/>
                    <a:pt x="2306516" y="1381"/>
                    <a:pt x="2308974" y="3839"/>
                  </a:cubicBezTo>
                  <a:cubicBezTo>
                    <a:pt x="2311433" y="6298"/>
                    <a:pt x="2312814" y="9632"/>
                    <a:pt x="2312814" y="13108"/>
                  </a:cubicBezTo>
                  <a:lnTo>
                    <a:pt x="2312814" y="280582"/>
                  </a:lnTo>
                  <a:cubicBezTo>
                    <a:pt x="2312814" y="287822"/>
                    <a:pt x="2306945" y="293691"/>
                    <a:pt x="2299705" y="293691"/>
                  </a:cubicBezTo>
                  <a:lnTo>
                    <a:pt x="13108" y="293691"/>
                  </a:lnTo>
                  <a:cubicBezTo>
                    <a:pt x="5869" y="293691"/>
                    <a:pt x="0" y="287822"/>
                    <a:pt x="0" y="280582"/>
                  </a:cubicBezTo>
                  <a:lnTo>
                    <a:pt x="0" y="13108"/>
                  </a:lnTo>
                  <a:cubicBezTo>
                    <a:pt x="0" y="5869"/>
                    <a:pt x="5869" y="0"/>
                    <a:pt x="13108" y="0"/>
                  </a:cubicBezTo>
                  <a:close/>
                </a:path>
              </a:pathLst>
            </a:custGeom>
            <a:solidFill>
              <a:srgbClr val="64C2E0"/>
            </a:solidFill>
            <a:ln w="38100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12814" cy="331791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428326" y="7054114"/>
            <a:ext cx="19549004" cy="8217515"/>
            <a:chOff x="0" y="0"/>
            <a:chExt cx="2098310" cy="8820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8310" cy="882034"/>
            </a:xfrm>
            <a:custGeom>
              <a:avLst/>
              <a:gdLst/>
              <a:ahLst/>
              <a:cxnLst/>
              <a:rect r="r" b="b" t="t" l="l"/>
              <a:pathLst>
                <a:path h="882034" w="2098310">
                  <a:moveTo>
                    <a:pt x="7735" y="0"/>
                  </a:moveTo>
                  <a:lnTo>
                    <a:pt x="2090575" y="0"/>
                  </a:lnTo>
                  <a:cubicBezTo>
                    <a:pt x="2092627" y="0"/>
                    <a:pt x="2094594" y="815"/>
                    <a:pt x="2096045" y="2265"/>
                  </a:cubicBezTo>
                  <a:cubicBezTo>
                    <a:pt x="2097495" y="3716"/>
                    <a:pt x="2098310" y="5683"/>
                    <a:pt x="2098310" y="7735"/>
                  </a:cubicBezTo>
                  <a:lnTo>
                    <a:pt x="2098310" y="874300"/>
                  </a:lnTo>
                  <a:cubicBezTo>
                    <a:pt x="2098310" y="876351"/>
                    <a:pt x="2097495" y="878318"/>
                    <a:pt x="2096045" y="879769"/>
                  </a:cubicBezTo>
                  <a:cubicBezTo>
                    <a:pt x="2094594" y="881219"/>
                    <a:pt x="2092627" y="882034"/>
                    <a:pt x="2090575" y="882034"/>
                  </a:cubicBezTo>
                  <a:lnTo>
                    <a:pt x="7735" y="882034"/>
                  </a:lnTo>
                  <a:cubicBezTo>
                    <a:pt x="3463" y="882034"/>
                    <a:pt x="0" y="878571"/>
                    <a:pt x="0" y="874300"/>
                  </a:cubicBezTo>
                  <a:lnTo>
                    <a:pt x="0" y="7735"/>
                  </a:lnTo>
                  <a:cubicBezTo>
                    <a:pt x="0" y="5683"/>
                    <a:pt x="815" y="3716"/>
                    <a:pt x="2265" y="2265"/>
                  </a:cubicBezTo>
                  <a:cubicBezTo>
                    <a:pt x="3716" y="815"/>
                    <a:pt x="5683" y="0"/>
                    <a:pt x="7735" y="0"/>
                  </a:cubicBezTo>
                  <a:close/>
                </a:path>
              </a:pathLst>
            </a:custGeom>
            <a:solidFill>
              <a:srgbClr val="1B789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98310" cy="92013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1518" y="3210448"/>
            <a:ext cx="5500044" cy="6000734"/>
            <a:chOff x="0" y="0"/>
            <a:chExt cx="1251047" cy="13649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1047" cy="1364935"/>
            </a:xfrm>
            <a:custGeom>
              <a:avLst/>
              <a:gdLst/>
              <a:ahLst/>
              <a:cxnLst/>
              <a:rect r="r" b="b" t="t" l="l"/>
              <a:pathLst>
                <a:path h="1364935" w="1251047">
                  <a:moveTo>
                    <a:pt x="0" y="0"/>
                  </a:moveTo>
                  <a:lnTo>
                    <a:pt x="1251047" y="0"/>
                  </a:lnTo>
                  <a:lnTo>
                    <a:pt x="1251047" y="1364935"/>
                  </a:lnTo>
                  <a:lnTo>
                    <a:pt x="0" y="1364935"/>
                  </a:lnTo>
                  <a:close/>
                </a:path>
              </a:pathLst>
            </a:custGeom>
            <a:solidFill>
              <a:srgbClr val="E3EEFA"/>
            </a:solidFill>
            <a:ln w="28575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51047" cy="1403035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8306" y="3452536"/>
            <a:ext cx="4385912" cy="867265"/>
            <a:chOff x="0" y="0"/>
            <a:chExt cx="2878417" cy="569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78417" cy="569175"/>
            </a:xfrm>
            <a:custGeom>
              <a:avLst/>
              <a:gdLst/>
              <a:ahLst/>
              <a:cxnLst/>
              <a:rect r="r" b="b" t="t" l="l"/>
              <a:pathLst>
                <a:path h="569175" w="2878417">
                  <a:moveTo>
                    <a:pt x="0" y="0"/>
                  </a:moveTo>
                  <a:lnTo>
                    <a:pt x="2878417" y="0"/>
                  </a:lnTo>
                  <a:lnTo>
                    <a:pt x="2878417" y="569175"/>
                  </a:lnTo>
                  <a:lnTo>
                    <a:pt x="0" y="569175"/>
                  </a:lnTo>
                  <a:close/>
                </a:path>
              </a:pathLst>
            </a:custGeom>
            <a:solidFill>
              <a:srgbClr val="1B7895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78417" cy="60727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78238" y="3210448"/>
            <a:ext cx="5391154" cy="5881932"/>
            <a:chOff x="0" y="0"/>
            <a:chExt cx="1251047" cy="13649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1047" cy="1364935"/>
            </a:xfrm>
            <a:custGeom>
              <a:avLst/>
              <a:gdLst/>
              <a:ahLst/>
              <a:cxnLst/>
              <a:rect r="r" b="b" t="t" l="l"/>
              <a:pathLst>
                <a:path h="1364935" w="1251047">
                  <a:moveTo>
                    <a:pt x="0" y="0"/>
                  </a:moveTo>
                  <a:lnTo>
                    <a:pt x="1251047" y="0"/>
                  </a:lnTo>
                  <a:lnTo>
                    <a:pt x="1251047" y="1364935"/>
                  </a:lnTo>
                  <a:lnTo>
                    <a:pt x="0" y="1364935"/>
                  </a:lnTo>
                  <a:close/>
                </a:path>
              </a:pathLst>
            </a:custGeom>
            <a:solidFill>
              <a:srgbClr val="E3EEFA"/>
            </a:solidFill>
            <a:ln w="28575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51047" cy="1403035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56027" y="3407875"/>
            <a:ext cx="4740929" cy="867265"/>
            <a:chOff x="0" y="0"/>
            <a:chExt cx="3111409" cy="5691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11409" cy="569175"/>
            </a:xfrm>
            <a:custGeom>
              <a:avLst/>
              <a:gdLst/>
              <a:ahLst/>
              <a:cxnLst/>
              <a:rect r="r" b="b" t="t" l="l"/>
              <a:pathLst>
                <a:path h="569175" w="3111409">
                  <a:moveTo>
                    <a:pt x="0" y="0"/>
                  </a:moveTo>
                  <a:lnTo>
                    <a:pt x="3111409" y="0"/>
                  </a:lnTo>
                  <a:lnTo>
                    <a:pt x="3111409" y="569175"/>
                  </a:lnTo>
                  <a:lnTo>
                    <a:pt x="0" y="569175"/>
                  </a:lnTo>
                  <a:close/>
                </a:path>
              </a:pathLst>
            </a:custGeom>
            <a:solidFill>
              <a:srgbClr val="1B7895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111409" cy="60727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01420" y="3246752"/>
            <a:ext cx="5357880" cy="5845628"/>
            <a:chOff x="0" y="0"/>
            <a:chExt cx="1251047" cy="13649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1047" cy="1364935"/>
            </a:xfrm>
            <a:custGeom>
              <a:avLst/>
              <a:gdLst/>
              <a:ahLst/>
              <a:cxnLst/>
              <a:rect r="r" b="b" t="t" l="l"/>
              <a:pathLst>
                <a:path h="1364935" w="1251047">
                  <a:moveTo>
                    <a:pt x="0" y="0"/>
                  </a:moveTo>
                  <a:lnTo>
                    <a:pt x="1251047" y="0"/>
                  </a:lnTo>
                  <a:lnTo>
                    <a:pt x="1251047" y="1364935"/>
                  </a:lnTo>
                  <a:lnTo>
                    <a:pt x="0" y="1364935"/>
                  </a:lnTo>
                  <a:close/>
                </a:path>
              </a:pathLst>
            </a:custGeom>
            <a:solidFill>
              <a:srgbClr val="E3EEFA"/>
            </a:solidFill>
            <a:ln w="28575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51047" cy="1403035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576137">
            <a:off x="14964522" y="1221534"/>
            <a:ext cx="2478597" cy="1982877"/>
          </a:xfrm>
          <a:custGeom>
            <a:avLst/>
            <a:gdLst/>
            <a:ahLst/>
            <a:cxnLst/>
            <a:rect r="r" b="b" t="t" l="l"/>
            <a:pathLst>
              <a:path h="1982877" w="2478597">
                <a:moveTo>
                  <a:pt x="0" y="0"/>
                </a:moveTo>
                <a:lnTo>
                  <a:pt x="2478597" y="0"/>
                </a:lnTo>
                <a:lnTo>
                  <a:pt x="2478597" y="1982878"/>
                </a:lnTo>
                <a:lnTo>
                  <a:pt x="0" y="1982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058313" y="3407875"/>
            <a:ext cx="4385912" cy="867265"/>
            <a:chOff x="0" y="0"/>
            <a:chExt cx="2878417" cy="5691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8417" cy="569175"/>
            </a:xfrm>
            <a:custGeom>
              <a:avLst/>
              <a:gdLst/>
              <a:ahLst/>
              <a:cxnLst/>
              <a:rect r="r" b="b" t="t" l="l"/>
              <a:pathLst>
                <a:path h="569175" w="2878417">
                  <a:moveTo>
                    <a:pt x="0" y="0"/>
                  </a:moveTo>
                  <a:lnTo>
                    <a:pt x="2878417" y="0"/>
                  </a:lnTo>
                  <a:lnTo>
                    <a:pt x="2878417" y="569175"/>
                  </a:lnTo>
                  <a:lnTo>
                    <a:pt x="0" y="569175"/>
                  </a:lnTo>
                  <a:close/>
                </a:path>
              </a:pathLst>
            </a:custGeom>
            <a:solidFill>
              <a:srgbClr val="1B7895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878417" cy="60727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4390544">
            <a:off x="1270626" y="1006702"/>
            <a:ext cx="1961820" cy="1961820"/>
          </a:xfrm>
          <a:custGeom>
            <a:avLst/>
            <a:gdLst/>
            <a:ahLst/>
            <a:cxnLst/>
            <a:rect r="r" b="b" t="t" l="l"/>
            <a:pathLst>
              <a:path h="1961820" w="1961820">
                <a:moveTo>
                  <a:pt x="0" y="0"/>
                </a:moveTo>
                <a:lnTo>
                  <a:pt x="1961820" y="0"/>
                </a:lnTo>
                <a:lnTo>
                  <a:pt x="1961820" y="1961820"/>
                </a:lnTo>
                <a:lnTo>
                  <a:pt x="0" y="1961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281262" y="1032992"/>
            <a:ext cx="11728329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EEFBFF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QUERIES AND INSIGHTS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7818" y="4658467"/>
            <a:ext cx="5477402" cy="378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131" indent="-288565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Time-in-Range glucose classification</a:t>
            </a:r>
          </a:p>
          <a:p>
            <a:pPr algn="l" marL="577131" indent="-288565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Single-pass CASE + window function</a:t>
            </a:r>
          </a:p>
          <a:p>
            <a:pPr algn="l" marL="577131" indent="-288565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50% of readings are prediabetic range</a:t>
            </a:r>
          </a:p>
          <a:p>
            <a:pPr algn="l" marL="577131" indent="-288565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1.87% reach full hyperglycemia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2365" y="3420996"/>
            <a:ext cx="3869097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</a:t>
            </a: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 1 — Foundational Insight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45245" y="4587775"/>
            <a:ext cx="5362491" cy="385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645" indent="-293323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LAG() flags Rapid Rise / Rapid Drop events</a:t>
            </a:r>
          </a:p>
          <a:p>
            <a:pPr algn="l" marL="586645" indent="-293323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Coefficient of variation ranks instability fairly</a:t>
            </a:r>
          </a:p>
          <a:p>
            <a:pPr algn="l" marL="586645" indent="-293323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Rolling EDA detects sustained stress periods</a:t>
            </a:r>
          </a:p>
          <a:p>
            <a:pPr algn="l" marL="586645" indent="-293323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Percentile ranking flags cohort-relative outliers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69450" y="3331675"/>
            <a:ext cx="3827314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</a:t>
            </a: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 2 — 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Pattern Detection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71343" y="4487863"/>
            <a:ext cx="5423326" cy="400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163" indent="-304582" lvl="1">
              <a:lnSpc>
                <a:spcPts val="3950"/>
              </a:lnSpc>
              <a:buFont typeface="Arial"/>
              <a:buChar char="•"/>
            </a:pPr>
            <a:r>
              <a:rPr lang="en-US" sz="28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Stored procedure: cardiovascular summary</a:t>
            </a:r>
          </a:p>
          <a:p>
            <a:pPr algn="l" marL="609163" indent="-304582" lvl="1">
              <a:lnSpc>
                <a:spcPts val="3950"/>
              </a:lnSpc>
              <a:buFont typeface="Arial"/>
              <a:buChar char="•"/>
            </a:pPr>
            <a:r>
              <a:rPr lang="en-US" sz="28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Recursive CTE: hourly glucose timeline</a:t>
            </a:r>
          </a:p>
          <a:p>
            <a:pPr algn="l" marL="609163" indent="-304582" lvl="1">
              <a:lnSpc>
                <a:spcPts val="3950"/>
              </a:lnSpc>
              <a:buFont typeface="Arial"/>
              <a:buChar char="•"/>
            </a:pPr>
            <a:r>
              <a:rPr lang="en-US" sz="28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Trigger: real-time high-glucose alert log</a:t>
            </a:r>
          </a:p>
          <a:p>
            <a:pPr algn="l" marL="609163" indent="-304582" lvl="1">
              <a:lnSpc>
                <a:spcPts val="3950"/>
              </a:lnSpc>
              <a:buFont typeface="Arial"/>
              <a:buChar char="•"/>
            </a:pPr>
            <a:r>
              <a:rPr lang="en-US" sz="28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User-defined function: reusable stress score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74217" y="3331675"/>
            <a:ext cx="3929603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 b="true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3 —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b="true" sz="2372">
                <a:solidFill>
                  <a:srgbClr val="EEFBFF"/>
                </a:solidFill>
                <a:latin typeface="Poppins Bold"/>
                <a:ea typeface="Poppins Bold"/>
                <a:cs typeface="Poppins Bold"/>
                <a:sym typeface="Poppins Bold"/>
              </a:rPr>
              <a:t> Reusable Clinical Tools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383001"/>
            <a:ext cx="7871987" cy="7871987"/>
          </a:xfrm>
          <a:custGeom>
            <a:avLst/>
            <a:gdLst/>
            <a:ahLst/>
            <a:cxnLst/>
            <a:rect r="r" b="b" t="t" l="l"/>
            <a:pathLst>
              <a:path h="7871987" w="7871987">
                <a:moveTo>
                  <a:pt x="0" y="0"/>
                </a:moveTo>
                <a:lnTo>
                  <a:pt x="7871987" y="0"/>
                </a:lnTo>
                <a:lnTo>
                  <a:pt x="7871987" y="7871987"/>
                </a:lnTo>
                <a:lnTo>
                  <a:pt x="0" y="787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71004"/>
            <a:ext cx="16230600" cy="8217515"/>
            <a:chOff x="0" y="0"/>
            <a:chExt cx="1742126" cy="8820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2126" cy="882034"/>
            </a:xfrm>
            <a:custGeom>
              <a:avLst/>
              <a:gdLst/>
              <a:ahLst/>
              <a:cxnLst/>
              <a:rect r="r" b="b" t="t" l="l"/>
              <a:pathLst>
                <a:path h="882034" w="1742126">
                  <a:moveTo>
                    <a:pt x="9316" y="0"/>
                  </a:moveTo>
                  <a:lnTo>
                    <a:pt x="1732810" y="0"/>
                  </a:lnTo>
                  <a:cubicBezTo>
                    <a:pt x="1737955" y="0"/>
                    <a:pt x="1742126" y="4171"/>
                    <a:pt x="1742126" y="9316"/>
                  </a:cubicBezTo>
                  <a:lnTo>
                    <a:pt x="1742126" y="872718"/>
                  </a:lnTo>
                  <a:cubicBezTo>
                    <a:pt x="1742126" y="877863"/>
                    <a:pt x="1737955" y="882034"/>
                    <a:pt x="1732810" y="882034"/>
                  </a:cubicBezTo>
                  <a:lnTo>
                    <a:pt x="9316" y="882034"/>
                  </a:lnTo>
                  <a:cubicBezTo>
                    <a:pt x="4171" y="882034"/>
                    <a:pt x="0" y="877863"/>
                    <a:pt x="0" y="872718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E3EE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2126" cy="92013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95857" y="1281398"/>
            <a:ext cx="8185221" cy="1687399"/>
            <a:chOff x="0" y="0"/>
            <a:chExt cx="10913629" cy="22498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954401" cy="2249866"/>
              <a:chOff x="0" y="0"/>
              <a:chExt cx="1361342" cy="307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61342" cy="307687"/>
              </a:xfrm>
              <a:custGeom>
                <a:avLst/>
                <a:gdLst/>
                <a:ahLst/>
                <a:cxnLst/>
                <a:rect r="r" b="b" t="t" l="l"/>
                <a:pathLst>
                  <a:path h="307687" w="1361342">
                    <a:moveTo>
                      <a:pt x="20254" y="0"/>
                    </a:moveTo>
                    <a:lnTo>
                      <a:pt x="1341088" y="0"/>
                    </a:lnTo>
                    <a:cubicBezTo>
                      <a:pt x="1352274" y="0"/>
                      <a:pt x="1361342" y="9068"/>
                      <a:pt x="1361342" y="20254"/>
                    </a:cubicBezTo>
                    <a:lnTo>
                      <a:pt x="1361342" y="287433"/>
                    </a:lnTo>
                    <a:cubicBezTo>
                      <a:pt x="1361342" y="292805"/>
                      <a:pt x="1359208" y="297956"/>
                      <a:pt x="1355410" y="301755"/>
                    </a:cubicBezTo>
                    <a:cubicBezTo>
                      <a:pt x="1351612" y="305553"/>
                      <a:pt x="1346460" y="307687"/>
                      <a:pt x="1341088" y="307687"/>
                    </a:cubicBezTo>
                    <a:lnTo>
                      <a:pt x="20254" y="307687"/>
                    </a:lnTo>
                    <a:cubicBezTo>
                      <a:pt x="9068" y="307687"/>
                      <a:pt x="0" y="298619"/>
                      <a:pt x="0" y="287433"/>
                    </a:cubicBezTo>
                    <a:lnTo>
                      <a:pt x="0" y="20254"/>
                    </a:lnTo>
                    <a:cubicBezTo>
                      <a:pt x="0" y="9068"/>
                      <a:pt x="9068" y="0"/>
                      <a:pt x="20254" y="0"/>
                    </a:cubicBezTo>
                    <a:close/>
                  </a:path>
                </a:pathLst>
              </a:custGeom>
              <a:solidFill>
                <a:srgbClr val="64C2E0"/>
              </a:solidFill>
              <a:ln w="38100" cap="rnd">
                <a:solidFill>
                  <a:srgbClr val="494848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61342" cy="345787"/>
              </a:xfrm>
              <a:prstGeom prst="rect">
                <a:avLst/>
              </a:prstGeom>
            </p:spPr>
            <p:txBody>
              <a:bodyPr anchor="ctr" rtlCol="false" tIns="57324" lIns="57324" bIns="57324" rIns="5732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5180" y="94116"/>
              <a:ext cx="10838449" cy="1890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99"/>
                </a:lnSpc>
                <a:spcBef>
                  <a:spcPct val="0"/>
                </a:spcBef>
              </a:pPr>
              <a:r>
                <a:rPr lang="en-US" b="true" sz="8499">
                  <a:solidFill>
                    <a:srgbClr val="EEFBFF"/>
                  </a:solidFill>
                  <a:latin typeface="Aristotelica Pro Condensed Bold"/>
                  <a:ea typeface="Aristotelica Pro Condensed Bold"/>
                  <a:cs typeface="Aristotelica Pro Condensed Bold"/>
                  <a:sym typeface="Aristotelica Pro Condensed Bold"/>
                </a:rPr>
                <a:t>LEARNING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200051">
            <a:off x="14669154" y="7185729"/>
            <a:ext cx="2634542" cy="2107634"/>
          </a:xfrm>
          <a:custGeom>
            <a:avLst/>
            <a:gdLst/>
            <a:ahLst/>
            <a:cxnLst/>
            <a:rect r="r" b="b" t="t" l="l"/>
            <a:pathLst>
              <a:path h="2107634" w="2634542">
                <a:moveTo>
                  <a:pt x="0" y="0"/>
                </a:moveTo>
                <a:lnTo>
                  <a:pt x="2634542" y="0"/>
                </a:lnTo>
                <a:lnTo>
                  <a:pt x="2634542" y="2107634"/>
                </a:lnTo>
                <a:lnTo>
                  <a:pt x="0" y="2107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5028420" y="1218541"/>
            <a:ext cx="2808866" cy="2043971"/>
          </a:xfrm>
          <a:custGeom>
            <a:avLst/>
            <a:gdLst/>
            <a:ahLst/>
            <a:cxnLst/>
            <a:rect r="r" b="b" t="t" l="l"/>
            <a:pathLst>
              <a:path h="2043971" w="2808866">
                <a:moveTo>
                  <a:pt x="2808866" y="0"/>
                </a:moveTo>
                <a:lnTo>
                  <a:pt x="0" y="0"/>
                </a:lnTo>
                <a:lnTo>
                  <a:pt x="0" y="2043971"/>
                </a:lnTo>
                <a:lnTo>
                  <a:pt x="2808866" y="2043971"/>
                </a:lnTo>
                <a:lnTo>
                  <a:pt x="28088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10248194">
            <a:off x="-662970" y="7683223"/>
            <a:ext cx="4278098" cy="2800210"/>
          </a:xfrm>
          <a:custGeom>
            <a:avLst/>
            <a:gdLst/>
            <a:ahLst/>
            <a:cxnLst/>
            <a:rect r="r" b="b" t="t" l="l"/>
            <a:pathLst>
              <a:path h="2800210" w="4278098">
                <a:moveTo>
                  <a:pt x="0" y="2800209"/>
                </a:moveTo>
                <a:lnTo>
                  <a:pt x="4278098" y="2800209"/>
                </a:lnTo>
                <a:lnTo>
                  <a:pt x="4278098" y="0"/>
                </a:lnTo>
                <a:lnTo>
                  <a:pt x="0" y="0"/>
                </a:lnTo>
                <a:lnTo>
                  <a:pt x="0" y="28002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0636" y="6554113"/>
            <a:ext cx="1636877" cy="3041495"/>
          </a:xfrm>
          <a:custGeom>
            <a:avLst/>
            <a:gdLst/>
            <a:ahLst/>
            <a:cxnLst/>
            <a:rect r="r" b="b" t="t" l="l"/>
            <a:pathLst>
              <a:path h="3041495" w="1636877">
                <a:moveTo>
                  <a:pt x="0" y="0"/>
                </a:moveTo>
                <a:lnTo>
                  <a:pt x="1636877" y="0"/>
                </a:lnTo>
                <a:lnTo>
                  <a:pt x="1636877" y="3041495"/>
                </a:lnTo>
                <a:lnTo>
                  <a:pt x="0" y="3041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2164830" y="7891689"/>
            <a:ext cx="702309" cy="3041495"/>
          </a:xfrm>
          <a:custGeom>
            <a:avLst/>
            <a:gdLst/>
            <a:ahLst/>
            <a:cxnLst/>
            <a:rect r="r" b="b" t="t" l="l"/>
            <a:pathLst>
              <a:path h="3041495" w="702309">
                <a:moveTo>
                  <a:pt x="0" y="0"/>
                </a:moveTo>
                <a:lnTo>
                  <a:pt x="702308" y="0"/>
                </a:lnTo>
                <a:lnTo>
                  <a:pt x="702308" y="3041495"/>
                </a:lnTo>
                <a:lnTo>
                  <a:pt x="0" y="30414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858306" y="3646511"/>
            <a:ext cx="13199970" cy="5414771"/>
            <a:chOff x="0" y="0"/>
            <a:chExt cx="3973396" cy="16299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73396" cy="1629930"/>
            </a:xfrm>
            <a:custGeom>
              <a:avLst/>
              <a:gdLst/>
              <a:ahLst/>
              <a:cxnLst/>
              <a:rect r="r" b="b" t="t" l="l"/>
              <a:pathLst>
                <a:path h="1629930" w="3973396">
                  <a:moveTo>
                    <a:pt x="0" y="0"/>
                  </a:moveTo>
                  <a:lnTo>
                    <a:pt x="3973396" y="0"/>
                  </a:lnTo>
                  <a:lnTo>
                    <a:pt x="3973396" y="1629930"/>
                  </a:lnTo>
                  <a:lnTo>
                    <a:pt x="0" y="1629930"/>
                  </a:lnTo>
                  <a:close/>
                </a:path>
              </a:pathLst>
            </a:custGeom>
            <a:solidFill>
              <a:srgbClr val="E3EEFA"/>
            </a:solidFill>
            <a:ln w="28575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73396" cy="1668030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88162" y="4181457"/>
            <a:ext cx="13170114" cy="392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Understood real-world healthcare time-series data analysis (CGM, HR, nutrition)</a:t>
            </a:r>
          </a:p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Learned SQL optimization techniques like GROUP BY, window functions, and CTEs</a:t>
            </a:r>
          </a:p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experience in stored procedures, triggers, and UDFs for automation</a:t>
            </a:r>
          </a:p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Improved ability to translate business/clinical questions into SQL logic</a:t>
            </a:r>
          </a:p>
          <a:p>
            <a:pPr algn="l" marL="566886" indent="-283443" lvl="1">
              <a:lnSpc>
                <a:spcPts val="3675"/>
              </a:lnSpc>
              <a:buFont typeface="Arial"/>
              <a:buChar char="•"/>
            </a:pPr>
            <a:r>
              <a:rPr lang="en-US" b="true" sz="26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Gained understanding of glucose metrics (TIR, HbA1c, variability, risk classification)</a:t>
            </a:r>
          </a:p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Learned data cleaning techniques for large multi-table datasets</a:t>
            </a:r>
          </a:p>
          <a:p>
            <a:pPr algn="l" marL="533256" indent="-266628" lvl="1">
              <a:lnSpc>
                <a:spcPts val="3457"/>
              </a:lnSpc>
              <a:buFont typeface="Arial"/>
              <a:buChar char="•"/>
            </a:pPr>
            <a:r>
              <a:rPr lang="en-US" b="true" sz="24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Improved storytelling using data insights for healthcare decision-making</a:t>
            </a:r>
          </a:p>
          <a:p>
            <a:pPr algn="l">
              <a:lnSpc>
                <a:spcPts val="30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71004"/>
            <a:ext cx="16230600" cy="8217515"/>
            <a:chOff x="0" y="0"/>
            <a:chExt cx="1742126" cy="8820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2126" cy="882034"/>
            </a:xfrm>
            <a:custGeom>
              <a:avLst/>
              <a:gdLst/>
              <a:ahLst/>
              <a:cxnLst/>
              <a:rect r="r" b="b" t="t" l="l"/>
              <a:pathLst>
                <a:path h="882034" w="1742126">
                  <a:moveTo>
                    <a:pt x="9316" y="0"/>
                  </a:moveTo>
                  <a:lnTo>
                    <a:pt x="1732810" y="0"/>
                  </a:lnTo>
                  <a:cubicBezTo>
                    <a:pt x="1737955" y="0"/>
                    <a:pt x="1742126" y="4171"/>
                    <a:pt x="1742126" y="9316"/>
                  </a:cubicBezTo>
                  <a:lnTo>
                    <a:pt x="1742126" y="872718"/>
                  </a:lnTo>
                  <a:cubicBezTo>
                    <a:pt x="1742126" y="877863"/>
                    <a:pt x="1737955" y="882034"/>
                    <a:pt x="1732810" y="882034"/>
                  </a:cubicBezTo>
                  <a:lnTo>
                    <a:pt x="9316" y="882034"/>
                  </a:lnTo>
                  <a:cubicBezTo>
                    <a:pt x="4171" y="882034"/>
                    <a:pt x="0" y="877863"/>
                    <a:pt x="0" y="872718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E3EE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2126" cy="920134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49820" y="1325643"/>
            <a:ext cx="6517422" cy="1687399"/>
            <a:chOff x="0" y="0"/>
            <a:chExt cx="8689896" cy="22498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689896" cy="2249866"/>
              <a:chOff x="0" y="0"/>
              <a:chExt cx="1188411" cy="307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88411" cy="307687"/>
              </a:xfrm>
              <a:custGeom>
                <a:avLst/>
                <a:gdLst/>
                <a:ahLst/>
                <a:cxnLst/>
                <a:rect r="r" b="b" t="t" l="l"/>
                <a:pathLst>
                  <a:path h="307687" w="1188411">
                    <a:moveTo>
                      <a:pt x="23201" y="0"/>
                    </a:moveTo>
                    <a:lnTo>
                      <a:pt x="1165210" y="0"/>
                    </a:lnTo>
                    <a:cubicBezTo>
                      <a:pt x="1178024" y="0"/>
                      <a:pt x="1188411" y="10387"/>
                      <a:pt x="1188411" y="23201"/>
                    </a:cubicBezTo>
                    <a:lnTo>
                      <a:pt x="1188411" y="284486"/>
                    </a:lnTo>
                    <a:cubicBezTo>
                      <a:pt x="1188411" y="290639"/>
                      <a:pt x="1185967" y="296540"/>
                      <a:pt x="1181616" y="300891"/>
                    </a:cubicBezTo>
                    <a:cubicBezTo>
                      <a:pt x="1177265" y="305242"/>
                      <a:pt x="1171363" y="307687"/>
                      <a:pt x="1165210" y="307687"/>
                    </a:cubicBezTo>
                    <a:lnTo>
                      <a:pt x="23201" y="307687"/>
                    </a:lnTo>
                    <a:cubicBezTo>
                      <a:pt x="10387" y="307687"/>
                      <a:pt x="0" y="297299"/>
                      <a:pt x="0" y="284486"/>
                    </a:cubicBezTo>
                    <a:lnTo>
                      <a:pt x="0" y="23201"/>
                    </a:lnTo>
                    <a:cubicBezTo>
                      <a:pt x="0" y="17048"/>
                      <a:pt x="2444" y="11146"/>
                      <a:pt x="6795" y="6795"/>
                    </a:cubicBezTo>
                    <a:cubicBezTo>
                      <a:pt x="11146" y="2444"/>
                      <a:pt x="17048" y="0"/>
                      <a:pt x="23201" y="0"/>
                    </a:cubicBezTo>
                    <a:close/>
                  </a:path>
                </a:pathLst>
              </a:custGeom>
              <a:solidFill>
                <a:srgbClr val="64C2E0"/>
              </a:solidFill>
              <a:ln w="38100" cap="rnd">
                <a:solidFill>
                  <a:srgbClr val="494848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88411" cy="345787"/>
              </a:xfrm>
              <a:prstGeom prst="rect">
                <a:avLst/>
              </a:prstGeom>
            </p:spPr>
            <p:txBody>
              <a:bodyPr anchor="ctr" rtlCol="false" tIns="57324" lIns="57324" bIns="57324" rIns="5732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01197" y="94116"/>
              <a:ext cx="8087503" cy="1890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99"/>
                </a:lnSpc>
                <a:spcBef>
                  <a:spcPct val="0"/>
                </a:spcBef>
              </a:pPr>
              <a:r>
                <a:rPr lang="en-US" b="true" sz="8499">
                  <a:solidFill>
                    <a:srgbClr val="EEFBFF"/>
                  </a:solidFill>
                  <a:latin typeface="Aristotelica Pro Condensed Bold"/>
                  <a:ea typeface="Aristotelica Pro Condensed Bold"/>
                  <a:cs typeface="Aristotelica Pro Condensed Bold"/>
                  <a:sym typeface="Aristotelica Pro Condensed Bold"/>
                </a:rPr>
                <a:t> CHALLENGES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200051">
            <a:off x="14669154" y="7185729"/>
            <a:ext cx="2634542" cy="2107634"/>
          </a:xfrm>
          <a:custGeom>
            <a:avLst/>
            <a:gdLst/>
            <a:ahLst/>
            <a:cxnLst/>
            <a:rect r="r" b="b" t="t" l="l"/>
            <a:pathLst>
              <a:path h="2107634" w="2634542">
                <a:moveTo>
                  <a:pt x="0" y="0"/>
                </a:moveTo>
                <a:lnTo>
                  <a:pt x="2634542" y="0"/>
                </a:lnTo>
                <a:lnTo>
                  <a:pt x="2634542" y="2107634"/>
                </a:lnTo>
                <a:lnTo>
                  <a:pt x="0" y="2107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5028420" y="322828"/>
            <a:ext cx="4039773" cy="2939684"/>
          </a:xfrm>
          <a:custGeom>
            <a:avLst/>
            <a:gdLst/>
            <a:ahLst/>
            <a:cxnLst/>
            <a:rect r="r" b="b" t="t" l="l"/>
            <a:pathLst>
              <a:path h="2939684" w="4039773">
                <a:moveTo>
                  <a:pt x="4039773" y="0"/>
                </a:moveTo>
                <a:lnTo>
                  <a:pt x="0" y="0"/>
                </a:lnTo>
                <a:lnTo>
                  <a:pt x="0" y="2939684"/>
                </a:lnTo>
                <a:lnTo>
                  <a:pt x="4039773" y="2939684"/>
                </a:lnTo>
                <a:lnTo>
                  <a:pt x="40397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10248194">
            <a:off x="-662970" y="7683223"/>
            <a:ext cx="4278098" cy="2800210"/>
          </a:xfrm>
          <a:custGeom>
            <a:avLst/>
            <a:gdLst/>
            <a:ahLst/>
            <a:cxnLst/>
            <a:rect r="r" b="b" t="t" l="l"/>
            <a:pathLst>
              <a:path h="2800210" w="4278098">
                <a:moveTo>
                  <a:pt x="0" y="2800209"/>
                </a:moveTo>
                <a:lnTo>
                  <a:pt x="4278098" y="2800209"/>
                </a:lnTo>
                <a:lnTo>
                  <a:pt x="4278098" y="0"/>
                </a:lnTo>
                <a:lnTo>
                  <a:pt x="0" y="0"/>
                </a:lnTo>
                <a:lnTo>
                  <a:pt x="0" y="28002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0636" y="6554113"/>
            <a:ext cx="1636877" cy="3041495"/>
          </a:xfrm>
          <a:custGeom>
            <a:avLst/>
            <a:gdLst/>
            <a:ahLst/>
            <a:cxnLst/>
            <a:rect r="r" b="b" t="t" l="l"/>
            <a:pathLst>
              <a:path h="3041495" w="1636877">
                <a:moveTo>
                  <a:pt x="0" y="0"/>
                </a:moveTo>
                <a:lnTo>
                  <a:pt x="1636877" y="0"/>
                </a:lnTo>
                <a:lnTo>
                  <a:pt x="1636877" y="3041495"/>
                </a:lnTo>
                <a:lnTo>
                  <a:pt x="0" y="3041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2164830" y="7891689"/>
            <a:ext cx="702309" cy="3041495"/>
          </a:xfrm>
          <a:custGeom>
            <a:avLst/>
            <a:gdLst/>
            <a:ahLst/>
            <a:cxnLst/>
            <a:rect r="r" b="b" t="t" l="l"/>
            <a:pathLst>
              <a:path h="3041495" w="702309">
                <a:moveTo>
                  <a:pt x="0" y="0"/>
                </a:moveTo>
                <a:lnTo>
                  <a:pt x="702308" y="0"/>
                </a:lnTo>
                <a:lnTo>
                  <a:pt x="702308" y="3041495"/>
                </a:lnTo>
                <a:lnTo>
                  <a:pt x="0" y="30414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959153" y="3255407"/>
            <a:ext cx="13543189" cy="5887404"/>
            <a:chOff x="0" y="0"/>
            <a:chExt cx="3973396" cy="1727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73396" cy="1727288"/>
            </a:xfrm>
            <a:custGeom>
              <a:avLst/>
              <a:gdLst/>
              <a:ahLst/>
              <a:cxnLst/>
              <a:rect r="r" b="b" t="t" l="l"/>
              <a:pathLst>
                <a:path h="1727288" w="3973396">
                  <a:moveTo>
                    <a:pt x="0" y="0"/>
                  </a:moveTo>
                  <a:lnTo>
                    <a:pt x="3973396" y="0"/>
                  </a:lnTo>
                  <a:lnTo>
                    <a:pt x="3973396" y="1727288"/>
                  </a:lnTo>
                  <a:lnTo>
                    <a:pt x="0" y="1727288"/>
                  </a:lnTo>
                  <a:close/>
                </a:path>
              </a:pathLst>
            </a:custGeom>
            <a:solidFill>
              <a:srgbClr val="E3EEFA"/>
            </a:solidFill>
            <a:ln w="28575" cap="sq">
              <a:solidFill>
                <a:srgbClr val="49484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73396" cy="1765388"/>
            </a:xfrm>
            <a:prstGeom prst="rect">
              <a:avLst/>
            </a:prstGeom>
          </p:spPr>
          <p:txBody>
            <a:bodyPr anchor="ctr" rtlCol="false" tIns="57324" lIns="57324" bIns="57324" rIns="5732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949958" y="3581450"/>
            <a:ext cx="12078462" cy="58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572" indent="-241286" lvl="1">
              <a:lnSpc>
                <a:spcPts val="3129"/>
              </a:lnSpc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Handling large multi-table joins across clinical datasets</a:t>
            </a:r>
          </a:p>
          <a:p>
            <a:pPr algn="l" marL="482572" indent="-241286" lvl="1">
              <a:lnSpc>
                <a:spcPts val="3129"/>
              </a:lnSpc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Large-scale table joins required pre-aggregation techniques to make queries efficient and executable</a:t>
            </a:r>
          </a:p>
          <a:p>
            <a:pPr algn="l" marL="482572" indent="-241286" lvl="1">
              <a:lnSpc>
                <a:spcPts val="3129"/>
              </a:lnSpc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Cross-sensor data (glucose, HR, activity) had timestamp misalignment issues, requiring careful time-series alignment strategies</a:t>
            </a:r>
          </a:p>
          <a:p>
            <a:pPr algn="l" marL="482572" indent="-241286" lvl="1">
              <a:lnSpc>
                <a:spcPts val="3129"/>
              </a:lnSpc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Managing data inconsistencies and missing values in time-series data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Designing correct logic for clinical thresh</a:t>
            </a: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olds (glucose, HbA1c, HR ranges)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Avoiding errors in aggregation vs row-level interpretation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Optimizing SQL queries for performance and readability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Ensuring consistent naming and standardization across datasets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Debugging complex SQL issues (NULLIF, GROUP BY, CASE logic errors)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Balancing clinical accuracy vs technical implementation constraints</a:t>
            </a:r>
          </a:p>
          <a:p>
            <a:pPr algn="l" marL="482572" indent="-241286" lvl="1">
              <a:lnSpc>
                <a:spcPts val="31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Coordinating teamwork across different time zones, impacting collaboration speed and sync</a:t>
            </a:r>
          </a:p>
          <a:p>
            <a:pPr algn="ctr">
              <a:lnSpc>
                <a:spcPts val="27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52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3009" y="-114760"/>
            <a:ext cx="10516520" cy="10516520"/>
          </a:xfrm>
          <a:custGeom>
            <a:avLst/>
            <a:gdLst/>
            <a:ahLst/>
            <a:cxnLst/>
            <a:rect r="r" b="b" t="t" l="l"/>
            <a:pathLst>
              <a:path h="10516520" w="10516520">
                <a:moveTo>
                  <a:pt x="0" y="0"/>
                </a:moveTo>
                <a:lnTo>
                  <a:pt x="10516520" y="0"/>
                </a:lnTo>
                <a:lnTo>
                  <a:pt x="10516520" y="10516520"/>
                </a:lnTo>
                <a:lnTo>
                  <a:pt x="0" y="10516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85497">
            <a:off x="10998026" y="5143500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0" y="0"/>
                </a:moveTo>
                <a:lnTo>
                  <a:pt x="10156617" y="0"/>
                </a:lnTo>
                <a:lnTo>
                  <a:pt x="10156617" y="6647968"/>
                </a:lnTo>
                <a:lnTo>
                  <a:pt x="0" y="664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2845638">
            <a:off x="-2249236" y="-1736862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0" y="6647968"/>
                </a:moveTo>
                <a:lnTo>
                  <a:pt x="10156618" y="6647968"/>
                </a:lnTo>
                <a:lnTo>
                  <a:pt x="10156618" y="0"/>
                </a:lnTo>
                <a:lnTo>
                  <a:pt x="0" y="0"/>
                </a:lnTo>
                <a:lnTo>
                  <a:pt x="0" y="66479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552745">
            <a:off x="10951700" y="-1464632"/>
            <a:ext cx="10815979" cy="7079550"/>
          </a:xfrm>
          <a:custGeom>
            <a:avLst/>
            <a:gdLst/>
            <a:ahLst/>
            <a:cxnLst/>
            <a:rect r="r" b="b" t="t" l="l"/>
            <a:pathLst>
              <a:path h="7079550" w="10815979">
                <a:moveTo>
                  <a:pt x="0" y="7079549"/>
                </a:moveTo>
                <a:lnTo>
                  <a:pt x="10815979" y="7079549"/>
                </a:lnTo>
                <a:lnTo>
                  <a:pt x="10815979" y="0"/>
                </a:lnTo>
                <a:lnTo>
                  <a:pt x="0" y="0"/>
                </a:lnTo>
                <a:lnTo>
                  <a:pt x="0" y="70795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93331" y="7473533"/>
            <a:ext cx="1741322" cy="2381295"/>
          </a:xfrm>
          <a:custGeom>
            <a:avLst/>
            <a:gdLst/>
            <a:ahLst/>
            <a:cxnLst/>
            <a:rect r="r" b="b" t="t" l="l"/>
            <a:pathLst>
              <a:path h="2381295" w="1741322">
                <a:moveTo>
                  <a:pt x="0" y="0"/>
                </a:moveTo>
                <a:lnTo>
                  <a:pt x="1741322" y="0"/>
                </a:lnTo>
                <a:lnTo>
                  <a:pt x="1741322" y="2381295"/>
                </a:lnTo>
                <a:lnTo>
                  <a:pt x="0" y="23812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9705498">
            <a:off x="-4049609" y="4676096"/>
            <a:ext cx="10156617" cy="6647968"/>
          </a:xfrm>
          <a:custGeom>
            <a:avLst/>
            <a:gdLst/>
            <a:ahLst/>
            <a:cxnLst/>
            <a:rect r="r" b="b" t="t" l="l"/>
            <a:pathLst>
              <a:path h="6647968" w="10156617">
                <a:moveTo>
                  <a:pt x="0" y="6647968"/>
                </a:moveTo>
                <a:lnTo>
                  <a:pt x="10156618" y="6647968"/>
                </a:lnTo>
                <a:lnTo>
                  <a:pt x="10156618" y="0"/>
                </a:lnTo>
                <a:lnTo>
                  <a:pt x="0" y="0"/>
                </a:lnTo>
                <a:lnTo>
                  <a:pt x="0" y="664796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6137">
            <a:off x="374917" y="7220553"/>
            <a:ext cx="3117326" cy="2493861"/>
          </a:xfrm>
          <a:custGeom>
            <a:avLst/>
            <a:gdLst/>
            <a:ahLst/>
            <a:cxnLst/>
            <a:rect r="r" b="b" t="t" l="l"/>
            <a:pathLst>
              <a:path h="2493861" w="3117326">
                <a:moveTo>
                  <a:pt x="0" y="0"/>
                </a:moveTo>
                <a:lnTo>
                  <a:pt x="3117327" y="0"/>
                </a:lnTo>
                <a:lnTo>
                  <a:pt x="3117327" y="2493861"/>
                </a:lnTo>
                <a:lnTo>
                  <a:pt x="0" y="2493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66003" y="7133806"/>
            <a:ext cx="3593945" cy="2607244"/>
          </a:xfrm>
          <a:custGeom>
            <a:avLst/>
            <a:gdLst/>
            <a:ahLst/>
            <a:cxnLst/>
            <a:rect r="r" b="b" t="t" l="l"/>
            <a:pathLst>
              <a:path h="2607244" w="3593945">
                <a:moveTo>
                  <a:pt x="0" y="0"/>
                </a:moveTo>
                <a:lnTo>
                  <a:pt x="3593946" y="0"/>
                </a:lnTo>
                <a:lnTo>
                  <a:pt x="3593946" y="2607244"/>
                </a:lnTo>
                <a:lnTo>
                  <a:pt x="0" y="26072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9059" y="840690"/>
            <a:ext cx="3319235" cy="2148451"/>
          </a:xfrm>
          <a:custGeom>
            <a:avLst/>
            <a:gdLst/>
            <a:ahLst/>
            <a:cxnLst/>
            <a:rect r="r" b="b" t="t" l="l"/>
            <a:pathLst>
              <a:path h="2148451" w="3319235">
                <a:moveTo>
                  <a:pt x="0" y="0"/>
                </a:moveTo>
                <a:lnTo>
                  <a:pt x="3319235" y="0"/>
                </a:lnTo>
                <a:lnTo>
                  <a:pt x="3319235" y="2148450"/>
                </a:lnTo>
                <a:lnTo>
                  <a:pt x="0" y="21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963992" y="331825"/>
            <a:ext cx="3394860" cy="3370170"/>
          </a:xfrm>
          <a:custGeom>
            <a:avLst/>
            <a:gdLst/>
            <a:ahLst/>
            <a:cxnLst/>
            <a:rect r="r" b="b" t="t" l="l"/>
            <a:pathLst>
              <a:path h="3370170" w="3394860">
                <a:moveTo>
                  <a:pt x="3394860" y="0"/>
                </a:moveTo>
                <a:lnTo>
                  <a:pt x="0" y="0"/>
                </a:lnTo>
                <a:lnTo>
                  <a:pt x="0" y="3370170"/>
                </a:lnTo>
                <a:lnTo>
                  <a:pt x="3394860" y="3370170"/>
                </a:lnTo>
                <a:lnTo>
                  <a:pt x="339486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140062">
            <a:off x="3041892" y="4206069"/>
            <a:ext cx="11328847" cy="26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5"/>
              </a:lnSpc>
              <a:spcBef>
                <a:spcPct val="0"/>
              </a:spcBef>
            </a:pPr>
            <a:r>
              <a:rPr lang="en-US" b="true" sz="15746">
                <a:solidFill>
                  <a:srgbClr val="64C2E0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THANK Y</a:t>
            </a:r>
            <a:r>
              <a:rPr lang="en-US" b="true" sz="15746">
                <a:solidFill>
                  <a:srgbClr val="64C2E0"/>
                </a:solidFill>
                <a:latin typeface="Aristotelica Pro Condensed Bold"/>
                <a:ea typeface="Aristotelica Pro Condensed Bold"/>
                <a:cs typeface="Aristotelica Pro Condensed Bold"/>
                <a:sym typeface="Aristotelica Pro Condensed Bold"/>
              </a:rPr>
              <a:t>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DAHNiAriQ-Y</dc:identifier>
  <dcterms:modified xsi:type="dcterms:W3CDTF">2011-08-01T06:04:30Z</dcterms:modified>
  <cp:revision>1</cp:revision>
  <dc:title>Dark Blue And Blue Modern Illustrated Medical Project Presentation</dc:title>
</cp:coreProperties>
</file>